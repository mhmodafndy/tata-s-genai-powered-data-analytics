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77" d="100"/>
          <a:sy n="77" d="100"/>
        </p:scale>
        <p:origin x="120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C2EA9F-F7DC-4130-8770-81A9D1091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5F19C-5113-447B-BCFF-0E779B3F13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991B007D-808F-4B6A-9A58-5FFB0CECCD61}" type="datetimeFigureOut">
              <a:rPr lang="ar-EG" smtClean="0"/>
              <a:t>25/02/1447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112A1-0081-403D-A80B-CF1B43CCCA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1853B-F0FA-4C63-ACB7-F3F22AC554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006D7A7F-C658-4153-B4BC-786CF01FB17C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814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114991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219205" y="801082"/>
            <a:ext cx="8705590" cy="4227426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1600" b="1">
                <a:solidFill>
                  <a:srgbClr val="FFFF00"/>
                </a:solidFill>
              </a:rPr>
              <a:t>Inputs</a:t>
            </a:r>
            <a:r>
              <a:rPr lang="en-GB" sz="1600">
                <a:solidFill>
                  <a:srgbClr val="FFFF00"/>
                </a:solidFill>
              </a:rPr>
              <a:t>:</a:t>
            </a:r>
            <a:br>
              <a:rPr lang="ar-EG" sz="1600"/>
            </a:br>
            <a:r>
              <a:rPr lang="en-GB" sz="1600"/>
              <a:t> </a:t>
            </a:r>
            <a:r>
              <a:rPr lang="en-US" sz="1600"/>
              <a:t>Demographics, Credit Behavior, Financial Ratios, Account Info</a:t>
            </a:r>
            <a:r>
              <a:rPr lang="ar-EG" sz="1600"/>
              <a:t>  </a:t>
            </a:r>
            <a:endParaRPr lang="en-US" sz="1600"/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ar-EG" sz="1600"/>
            </a:br>
            <a:r>
              <a:rPr lang="en-GB" sz="1600" b="1">
                <a:solidFill>
                  <a:srgbClr val="FFFF00"/>
                </a:solidFill>
              </a:rPr>
              <a:t>Decision Logic</a:t>
            </a:r>
            <a:r>
              <a:rPr lang="en-GB" sz="1600">
                <a:solidFill>
                  <a:srgbClr val="FFFF00"/>
                </a:solidFill>
              </a:rPr>
              <a:t>: </a:t>
            </a:r>
            <a:r>
              <a:rPr lang="en-US" sz="1600"/>
              <a:t>Decision Tree Classifie</a:t>
            </a:r>
            <a:br>
              <a:rPr lang="en-US" sz="1600"/>
            </a:br>
            <a:r>
              <a:rPr lang="en-GB" sz="1600" b="1">
                <a:solidFill>
                  <a:srgbClr val="FFFF00"/>
                </a:solidFill>
              </a:rPr>
              <a:t>Actions</a:t>
            </a:r>
            <a:r>
              <a:rPr lang="en-GB" sz="1600">
                <a:solidFill>
                  <a:srgbClr val="FFFF00"/>
                </a:solidFill>
              </a:rPr>
              <a:t>: </a:t>
            </a:r>
            <a:r>
              <a:rPr kumimoji="0" lang="ar-EG" altLang="ar-EG" sz="16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Automated Actions:</a:t>
            </a:r>
            <a:endParaRPr kumimoji="0" lang="ar-EG" altLang="ar-EG" sz="16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SMS/email reminders.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on high utilization (&gt;70%).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nudges (financial literacy tips).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r-EG" altLang="ar-EG" sz="16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Human-in-the-Loop Actions:</a:t>
            </a:r>
            <a:endParaRPr kumimoji="0" lang="ar-EG" altLang="ar-EG" sz="1600" b="0" i="0" u="none" strike="noStrike" cap="none" normalizeH="0" baseline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Approving hardship repayment plans.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Reviewing borderline/high-impact cases.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ar-EG" altLang="ar-EG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customer complaints or exceptions</a:t>
            </a:r>
            <a:endParaRPr kumimoji="0" lang="en-US" altLang="ar-EG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US" sz="1600"/>
            </a:br>
            <a:r>
              <a:rPr lang="en-GB" sz="1600" b="1">
                <a:solidFill>
                  <a:srgbClr val="FFFF00"/>
                </a:solidFill>
              </a:rPr>
              <a:t>Learning</a:t>
            </a:r>
            <a:r>
              <a:rPr lang="en-GB" sz="1600">
                <a:solidFill>
                  <a:srgbClr val="FFFF00"/>
                </a:solidFill>
              </a:rPr>
              <a:t>:</a:t>
            </a:r>
            <a:r>
              <a:rPr lang="ar-EG" sz="1600">
                <a:solidFill>
                  <a:srgbClr val="FFFF00"/>
                </a:solidFill>
              </a:rPr>
              <a:t> </a:t>
            </a:r>
            <a:endParaRPr lang="en-US" sz="1600">
              <a:solidFill>
                <a:srgbClr val="FFFF00"/>
              </a:solidFill>
            </a:endParaRPr>
          </a:p>
          <a:p>
            <a:r>
              <a:rPr lang="en-US" sz="1600"/>
              <a:t>System adapts based on the results of previous actions </a:t>
            </a:r>
          </a:p>
          <a:p>
            <a:r>
              <a:rPr lang="en-US" sz="1600"/>
              <a:t>Future decision-making improves based on repayment outcomes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ar-EG" sz="1600">
                <a:solidFill>
                  <a:srgbClr val="FFFF00"/>
                </a:solidFill>
              </a:rPr>
              <a:t>  </a:t>
            </a:r>
            <a:br>
              <a:rPr lang="en-US" sz="1600">
                <a:solidFill>
                  <a:srgbClr val="FFFF00"/>
                </a:solidFill>
              </a:rPr>
            </a:br>
            <a:r>
              <a:rPr lang="ar-EG" sz="1600">
                <a:solidFill>
                  <a:srgbClr val="FFFF00"/>
                </a:solidFill>
              </a:rPr>
              <a:t>        </a:t>
            </a:r>
            <a:br>
              <a:rPr lang="en-US" sz="1600">
                <a:solidFill>
                  <a:srgbClr val="FFFF00"/>
                </a:solidFill>
              </a:rPr>
            </a:br>
            <a:br>
              <a:rPr lang="ar-EG" sz="1600">
                <a:solidFill>
                  <a:srgbClr val="FFFF00"/>
                </a:solidFill>
              </a:rPr>
            </a:br>
            <a:br>
              <a:rPr lang="ar-EG" sz="1600">
                <a:solidFill>
                  <a:srgbClr val="FFFF00"/>
                </a:solidFill>
              </a:rPr>
            </a:br>
            <a:br>
              <a:rPr lang="ar-EG" sz="1600">
                <a:solidFill>
                  <a:srgbClr val="FFFF00"/>
                </a:solidFill>
              </a:rPr>
            </a:br>
            <a:r>
              <a:rPr lang="en-GB" sz="1600">
                <a:solidFill>
                  <a:srgbClr val="FFFF00"/>
                </a:solidFill>
              </a:rPr>
              <a:t> 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>
                <a:solidFill>
                  <a:srgbClr val="002060"/>
                </a:solidFill>
              </a:rPr>
              <a:t>.</a:t>
            </a:r>
            <a:endParaRPr lang="en-GB" dirty="0">
              <a:solidFill>
                <a:srgbClr val="00206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72BE95-CCF7-4827-93D7-B58CDB1A2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222615"/>
              </p:ext>
            </p:extLst>
          </p:nvPr>
        </p:nvGraphicFramePr>
        <p:xfrm>
          <a:off x="386800" y="1489824"/>
          <a:ext cx="8369300" cy="2907030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3822651780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207978301"/>
                    </a:ext>
                  </a:extLst>
                </a:gridCol>
              </a:tblGrid>
              <a:tr h="336603"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Autonomous (AI-driven tasks)</a:t>
                      </a:r>
                      <a:endParaRPr lang="en-US" sz="1600">
                        <a:solidFill>
                          <a:srgbClr val="FFFF0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FF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Human Oversight (Critical decision points)</a:t>
                      </a:r>
                      <a:endParaRPr lang="en-US" sz="1600">
                        <a:solidFill>
                          <a:srgbClr val="FFFF0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189664"/>
                  </a:ext>
                </a:extLst>
              </a:tr>
              <a:tr h="826209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Flag high-risk customers (e.g., DTI &gt; 0.4, utilization &gt; 70%, multiple missed payments).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Approve hardship repayment plans and restructuring.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811224"/>
                  </a:ext>
                </a:extLst>
              </a:tr>
              <a:tr h="58140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Send automated SMS/email reminders for overdue or upcoming payments.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Review borderline risk cases where model confidence is low.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80509"/>
                  </a:ext>
                </a:extLst>
              </a:tr>
              <a:tr h="58140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Monitor credit utilization and trigger alerts when thresholds are exceeded.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Conduct fairness and compliance audits (across age, income, tenure).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743739"/>
                  </a:ext>
                </a:extLst>
              </a:tr>
              <a:tr h="58140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Detect repayment risk patterns and update CRM automatically.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Handle escalations: customer complaints, disputes, or ethical exceptions.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5647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FF00"/>
                </a:solidFill>
              </a:rPr>
              <a:t>Fairness:</a:t>
            </a:r>
            <a:r>
              <a:rPr lang="en-US" sz="1600">
                <a:solidFill>
                  <a:srgbClr val="FFFF00"/>
                </a:solidFill>
              </a:rPr>
              <a:t> </a:t>
            </a:r>
            <a:r>
              <a:rPr lang="en-US" sz="1600"/>
              <a:t>Regular bias checks across age, income, and tenure to prevent unfair treatment.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FF00"/>
                </a:solidFill>
              </a:rPr>
              <a:t>Transparency:</a:t>
            </a:r>
            <a:r>
              <a:rPr lang="en-US" sz="1600">
                <a:solidFill>
                  <a:srgbClr val="FFFF00"/>
                </a:solidFill>
              </a:rPr>
              <a:t> </a:t>
            </a:r>
            <a:r>
              <a:rPr lang="en-US" sz="1600"/>
              <a:t>Use interpretable models (Decision Tree) and provide clear explanations for risk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FF00"/>
                </a:solidFill>
              </a:rPr>
              <a:t>Compliance</a:t>
            </a:r>
            <a:r>
              <a:rPr lang="en-US" sz="1600" b="1">
                <a:solidFill>
                  <a:srgbClr val="00B0F0"/>
                </a:solidFill>
              </a:rPr>
              <a:t>:</a:t>
            </a:r>
            <a:r>
              <a:rPr lang="en-US" sz="1600">
                <a:solidFill>
                  <a:srgbClr val="00B0F0"/>
                </a:solidFill>
              </a:rPr>
              <a:t> </a:t>
            </a:r>
            <a:r>
              <a:rPr lang="en-US" sz="1600"/>
              <a:t>Align with financial regulations (ECOA, GDPR) and protect customer data privacy.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FF00"/>
                </a:solidFill>
              </a:rPr>
              <a:t>Human-in-the-loop:</a:t>
            </a:r>
            <a:r>
              <a:rPr lang="en-US" sz="1600">
                <a:solidFill>
                  <a:srgbClr val="FFFF00"/>
                </a:solidFill>
              </a:rPr>
              <a:t> </a:t>
            </a:r>
            <a:r>
              <a:rPr lang="en-US" sz="1600"/>
              <a:t>Keep human oversight for sensitive decisions like credit restructuring or limit reductions.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377863"/>
            <a:ext cx="8368200" cy="3569919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buNone/>
            </a:pPr>
            <a:r>
              <a:rPr lang="en-GB" sz="1600" b="1">
                <a:solidFill>
                  <a:srgbClr val="FFFF00"/>
                </a:solidFill>
              </a:rPr>
              <a:t>Quantitative outcomes:</a:t>
            </a:r>
            <a:br>
              <a:rPr lang="en-GB" sz="1600" b="1"/>
            </a:br>
            <a:r>
              <a:rPr lang="en-US" sz="1600" b="1"/>
              <a:t>Reduced delinquency:</a:t>
            </a:r>
            <a:r>
              <a:rPr lang="en-US" sz="1600"/>
              <a:t> Lower 30+ day delinquency by </a:t>
            </a:r>
            <a:r>
              <a:rPr lang="en-US" sz="1600" b="1"/>
              <a:t>10–15%</a:t>
            </a:r>
            <a:r>
              <a:rPr lang="en-US" sz="1600"/>
              <a:t>.</a:t>
            </a:r>
          </a:p>
          <a:p>
            <a:pPr marL="114300" indent="0" algn="ctr">
              <a:buNone/>
            </a:pPr>
            <a:r>
              <a:rPr lang="en-US" sz="1600"/>
              <a:t> </a:t>
            </a:r>
            <a:r>
              <a:rPr lang="en-US" sz="1600" b="1"/>
              <a:t>Increased repayment rates:</a:t>
            </a:r>
            <a:r>
              <a:rPr lang="en-US" sz="1600"/>
              <a:t> Boost repayment among high-risk customers by </a:t>
            </a:r>
            <a:r>
              <a:rPr lang="en-US" sz="1600" b="1"/>
              <a:t>&gt;12%</a:t>
            </a:r>
            <a:r>
              <a:rPr lang="en-US" sz="1600"/>
              <a:t>.</a:t>
            </a:r>
          </a:p>
          <a:p>
            <a:pPr marL="114300" indent="0" algn="ctr">
              <a:buNone/>
            </a:pPr>
            <a:r>
              <a:rPr lang="en-US" sz="1600"/>
              <a:t> </a:t>
            </a:r>
            <a:r>
              <a:rPr lang="en-US" sz="1600" b="1"/>
              <a:t>Cost savings:</a:t>
            </a:r>
            <a:r>
              <a:rPr lang="en-US" sz="1600"/>
              <a:t> Reduce manual collection costs via automation.</a:t>
            </a:r>
          </a:p>
          <a:p>
            <a:pPr marL="114300" indent="0" algn="ctr">
              <a:buNone/>
            </a:pPr>
            <a:r>
              <a:rPr lang="en-US" sz="1600"/>
              <a:t> </a:t>
            </a:r>
            <a:r>
              <a:rPr lang="en-US" sz="1600" b="1"/>
              <a:t>Scalability:</a:t>
            </a:r>
            <a:r>
              <a:rPr lang="en-US" sz="1600"/>
              <a:t> Handle larger volumes of customers without additional staff.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FF0000"/>
              </a:solidFill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1600" b="1">
                <a:solidFill>
                  <a:srgbClr val="FFFF00"/>
                </a:solidFill>
              </a:rPr>
              <a:t>Qualitative outcomes:</a:t>
            </a:r>
            <a:br>
              <a:rPr lang="ar-EG" sz="1600" b="1"/>
            </a:br>
            <a:r>
              <a:rPr lang="en-US" sz="1600" b="1"/>
              <a:t>Improved trust:</a:t>
            </a:r>
            <a:r>
              <a:rPr lang="en-US" sz="1600"/>
              <a:t> Transparent and explainable decisions build stronger customer relationships.</a:t>
            </a:r>
            <a:br>
              <a:rPr lang="ar-EG" sz="1600"/>
            </a:br>
            <a:r>
              <a:rPr lang="en-US" sz="1600" b="1"/>
              <a:t>Enhanced fairness:</a:t>
            </a:r>
            <a:r>
              <a:rPr lang="en-US" sz="1600"/>
              <a:t> Balanced treatment across age, income, and tenure groups.</a:t>
            </a:r>
            <a:br>
              <a:rPr lang="ar-EG" sz="1600"/>
            </a:br>
            <a:r>
              <a:rPr lang="en-US" sz="1600" b="1"/>
              <a:t>Better experience:</a:t>
            </a:r>
            <a:r>
              <a:rPr lang="en-US" sz="1600"/>
              <a:t> Supportive reminders and flexible repayment plans instead of punitive measures.</a:t>
            </a:r>
            <a:br>
              <a:rPr lang="ar-EG" sz="1600"/>
            </a:br>
            <a:r>
              <a:rPr lang="en-US" sz="1600" b="1"/>
              <a:t>Long-term engagement:</a:t>
            </a:r>
            <a:r>
              <a:rPr lang="en-US" sz="1600"/>
              <a:t> Improved loyalty and customer retention.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GB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627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 Slab</vt:lpstr>
      <vt:lpstr>Roboto</vt:lpstr>
      <vt:lpstr>Arial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cp:lastModifiedBy>ashraf alafandi</cp:lastModifiedBy>
  <cp:revision>18</cp:revision>
  <dcterms:modified xsi:type="dcterms:W3CDTF">2025-08-19T06:41:05Z</dcterms:modified>
</cp:coreProperties>
</file>